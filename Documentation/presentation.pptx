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0" r:id="rId4"/>
    <p:sldId id="259" r:id="rId5"/>
    <p:sldId id="262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AAE"/>
    <a:srgbClr val="DE1A58"/>
    <a:srgbClr val="1E1E1E"/>
    <a:srgbClr val="8F0177"/>
    <a:srgbClr val="10162D"/>
    <a:srgbClr val="AAA9A9"/>
    <a:srgbClr val="B0B0B0"/>
    <a:srgbClr val="F4B342"/>
    <a:srgbClr val="A43137"/>
    <a:srgbClr val="75A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9CFC0-7D95-453D-A815-0CE9B10588C3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A6D10-A90B-40E0-90D8-8ED7DDE0E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8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6D10-A90B-40E0-90D8-8ED7DDE0E3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9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A6D10-A90B-40E0-90D8-8ED7DDE0E3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23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D441-76B3-493C-ACAF-CC883DA46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6D46F-C951-4FD8-A1F3-3AC1DC843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E1CF0-F618-4507-A0BD-B43AD54A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170E3-B325-4B5D-8870-F688BDED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1D3B9-27FD-4ACD-8AA5-050F4825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8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70FA3-711F-4DCF-A6F2-0AC84B018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D8472-5B2C-4332-968E-0CD0DA95F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56057-E19F-4403-BAD3-ACDDBBD8D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1EA0B-119A-4197-BCE0-225B713CD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B9AB0-1EF8-415B-878A-1249C5C5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0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8903-5ACB-4398-A001-8545F1F1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FE4EA-6EC1-49F8-A038-CA0F6EC9D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9E39C-E69A-4424-BE5D-1E02BCCF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F90FB-5F24-4D47-AF78-0E74B349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FD11A-EA07-4F00-A7DA-4A54B235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4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478E-B4AA-41D3-942C-4C5ABFB98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B8E67-25F4-40E7-AF78-0F8F7F230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0BADE-2031-44ED-A783-598405E69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F2463-7458-4CD0-972C-CD5C774F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4E9A6-44FC-4AD9-BD3C-2091E843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FA7F5-C62F-41CE-A579-D578173A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8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78394-8CBE-4CB8-9B3A-5D020EDD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6F20C-B20B-42DD-AC7D-F73B388D1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DD36B-D11B-4883-B409-04D4978CF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70987-AA07-4214-B709-DBD642063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2DA95-B946-46C9-9FAB-1EEDF62FB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793C64-DA0D-4C21-8271-21BBDE364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3F8FA-16B1-4866-B3EB-0FA9A6149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FD19C-2FEC-4C8A-8992-5B848B38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98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5A18-7D23-4A71-A087-C32D04C5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33274-7061-4073-AB60-2E2FFE01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DE158-02A3-4398-801D-1561A9F8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88F89-21D8-4E09-BDAC-A8331568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5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85DC2-C80A-4172-A23B-B4603FB5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A89ED-9A6C-4FE4-B058-58CDC482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835A4-0CA5-4D0B-95A9-6CB19728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9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F5D1-85F8-48E3-A627-3F174F49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759FA-96DE-4D41-A006-3546EB504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B8140-475D-40F2-BCF5-5734284F8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BBBA3-DA2B-4262-8240-F67E8B20D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1E34E-584E-43ED-8106-B2B71D7F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5FDFD-7D23-4AC8-8283-76F18FDA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3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F485-F665-4916-A94A-3310A71D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99744-3F19-4CC0-B4B4-FBF4F603F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83458-978F-4383-B777-9A6DD93E6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D6892-7E16-45D8-8561-2CC445C9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1C890-FEED-490E-A8C1-1AB186B29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772DA-4E63-4CC9-9846-A6B9D3DA1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98E5E-C375-48F3-828B-84B5A6A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2F02C-28DA-4C05-9D75-0DFAD8F7E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A85FE-F349-4188-AF93-69579C4E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50027-B79B-47CF-873C-659E0EDE2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9489A-CCD9-417B-A808-5A641E4B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6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076F0E-3BA3-4765-AAE0-55BE03EFD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5DD91-3B6F-4604-A580-C5C4D81F3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5C90B-76ED-4DD9-A165-0A1C9C66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EEEB-76A1-487C-9443-37504BDC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8C3BD-0691-483B-991E-8D6F9922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0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66A90-F8EE-4970-A720-329D0FEE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B302C-9281-4B8C-AF12-F86F37FD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FFF5B-298A-4FEF-B71C-9B4EC58B5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75EA1-3B4C-40B4-8785-CFEEA35AF20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0E32A-C31F-43BF-A1E6-9271ED64A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C24C6-9D3E-482C-A670-2152EFE05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4E17A-5BB3-4989-9E68-5C3F7D571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5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66B90-A0D9-4DA3-A86F-2FF7FA81C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98D449-FA22-45DF-B2F2-F78444A15507}"/>
              </a:ext>
            </a:extLst>
          </p:cNvPr>
          <p:cNvSpPr txBox="1"/>
          <p:nvPr/>
        </p:nvSpPr>
        <p:spPr>
          <a:xfrm>
            <a:off x="656948" y="1651250"/>
            <a:ext cx="60545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29A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Sentiment Analysis Model For Multilingual Texts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A05288-49CC-4BAC-B935-16309039F4E6}"/>
              </a:ext>
            </a:extLst>
          </p:cNvPr>
          <p:cNvSpPr/>
          <p:nvPr/>
        </p:nvSpPr>
        <p:spPr>
          <a:xfrm>
            <a:off x="656948" y="3081220"/>
            <a:ext cx="6054570" cy="45719"/>
          </a:xfrm>
          <a:prstGeom prst="rect">
            <a:avLst/>
          </a:prstGeom>
          <a:solidFill>
            <a:srgbClr val="F4B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67BE45-71DC-4277-9F21-3753FC45F0C2}"/>
              </a:ext>
            </a:extLst>
          </p:cNvPr>
          <p:cNvSpPr txBox="1"/>
          <p:nvPr/>
        </p:nvSpPr>
        <p:spPr>
          <a:xfrm>
            <a:off x="656948" y="3279455"/>
            <a:ext cx="59746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B0B0B0"/>
                </a:solidFill>
              </a:rPr>
              <a:t>Retaj Melhem</a:t>
            </a:r>
          </a:p>
          <a:p>
            <a:r>
              <a:rPr lang="en-US" sz="2400" dirty="0">
                <a:solidFill>
                  <a:srgbClr val="B0B0B0"/>
                </a:solidFill>
              </a:rPr>
              <a:t>Laith Al-Daoud</a:t>
            </a:r>
          </a:p>
          <a:p>
            <a:r>
              <a:rPr lang="en-US" sz="2400" dirty="0">
                <a:solidFill>
                  <a:srgbClr val="B0B0B0"/>
                </a:solidFill>
              </a:rPr>
              <a:t>Ghaith Aldiabat</a:t>
            </a:r>
          </a:p>
          <a:p>
            <a:r>
              <a:rPr lang="en-US" sz="2400" dirty="0">
                <a:solidFill>
                  <a:srgbClr val="B0B0B0"/>
                </a:solidFill>
              </a:rPr>
              <a:t>Omar Al-Najjar</a:t>
            </a:r>
          </a:p>
        </p:txBody>
      </p:sp>
    </p:spTree>
    <p:extLst>
      <p:ext uri="{BB962C8B-B14F-4D97-AF65-F5344CB8AC3E}">
        <p14:creationId xmlns:p14="http://schemas.microsoft.com/office/powerpoint/2010/main" val="3214622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66B90-A0D9-4DA3-A86F-2FF7FA81C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F86850-EF81-4658-88CE-4962C07C93CD}"/>
              </a:ext>
            </a:extLst>
          </p:cNvPr>
          <p:cNvSpPr txBox="1"/>
          <p:nvPr/>
        </p:nvSpPr>
        <p:spPr>
          <a:xfrm>
            <a:off x="3595155" y="108579"/>
            <a:ext cx="5001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29AAE"/>
                </a:solidFill>
              </a:rPr>
              <a:t>Dataset Overview &amp;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B5DBE-74BD-4642-8185-93F94786EDFA}"/>
              </a:ext>
            </a:extLst>
          </p:cNvPr>
          <p:cNvSpPr txBox="1"/>
          <p:nvPr/>
        </p:nvSpPr>
        <p:spPr>
          <a:xfrm>
            <a:off x="802535" y="877441"/>
            <a:ext cx="3875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B0B0B0"/>
                </a:solidFill>
              </a:rPr>
              <a:t>4 datasets were chosen and integrated: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9F1A60-9BCD-4B1B-AB7D-42EB44A14019}"/>
              </a:ext>
            </a:extLst>
          </p:cNvPr>
          <p:cNvSpPr/>
          <p:nvPr/>
        </p:nvSpPr>
        <p:spPr>
          <a:xfrm>
            <a:off x="216947" y="3583343"/>
            <a:ext cx="2516728" cy="1854364"/>
          </a:xfrm>
          <a:prstGeom prst="roundRect">
            <a:avLst/>
          </a:prstGeom>
          <a:solidFill>
            <a:srgbClr val="F4B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Arabic 100k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Kaggle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Language: Arabic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Size: 100k reviews</a:t>
            </a:r>
          </a:p>
          <a:p>
            <a:pPr algn="ctr"/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01CC0D-8C7A-4844-8F02-4BD6FA9A7F10}"/>
              </a:ext>
            </a:extLst>
          </p:cNvPr>
          <p:cNvSpPr/>
          <p:nvPr/>
        </p:nvSpPr>
        <p:spPr>
          <a:xfrm>
            <a:off x="216947" y="1761159"/>
            <a:ext cx="2516728" cy="1682609"/>
          </a:xfrm>
          <a:prstGeom prst="roundRect">
            <a:avLst/>
          </a:prstGeom>
          <a:solidFill>
            <a:srgbClr val="F4B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330k Arabic Sentiment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Kaggle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Language: Arabic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Size: 330k reviews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EDE28-6A97-4B64-AA3B-6AC4E662CC36}"/>
              </a:ext>
            </a:extLst>
          </p:cNvPr>
          <p:cNvSpPr/>
          <p:nvPr/>
        </p:nvSpPr>
        <p:spPr>
          <a:xfrm>
            <a:off x="2848622" y="1746390"/>
            <a:ext cx="2723502" cy="1682609"/>
          </a:xfrm>
          <a:prstGeom prst="roundRect">
            <a:avLst/>
          </a:prstGeom>
          <a:solidFill>
            <a:srgbClr val="F4B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Arabic Company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Kaggle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Language: Arabic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Size: 40k reviews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B07BB7-595A-4146-B026-662FAF10100B}"/>
              </a:ext>
            </a:extLst>
          </p:cNvPr>
          <p:cNvSpPr/>
          <p:nvPr/>
        </p:nvSpPr>
        <p:spPr>
          <a:xfrm>
            <a:off x="2848621" y="3603461"/>
            <a:ext cx="2723503" cy="1854364"/>
          </a:xfrm>
          <a:prstGeom prst="roundRect">
            <a:avLst/>
          </a:prstGeom>
          <a:solidFill>
            <a:srgbClr val="F4B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Yelp Reviews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Kaggle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Language: English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Size: ~7 million reviews</a:t>
            </a:r>
          </a:p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8C49B-C792-43C1-AECF-4F040ED2A5BB}"/>
              </a:ext>
            </a:extLst>
          </p:cNvPr>
          <p:cNvSpPr txBox="1"/>
          <p:nvPr/>
        </p:nvSpPr>
        <p:spPr>
          <a:xfrm>
            <a:off x="7437072" y="877441"/>
            <a:ext cx="3063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AAA9A9"/>
                </a:solidFill>
              </a:rPr>
              <a:t>Class distribution visualization</a:t>
            </a:r>
            <a:r>
              <a:rPr lang="en-US" dirty="0">
                <a:solidFill>
                  <a:srgbClr val="B0B0B0"/>
                </a:solidFill>
              </a:rPr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DE6C73-C532-479A-83B5-8AE0FD2E6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869" y="1453436"/>
            <a:ext cx="6069553" cy="43000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182EF5-A771-42BC-BE4B-E9A597BAE3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381" y="1245821"/>
            <a:ext cx="449536" cy="44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67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66B90-A0D9-4DA3-A86F-2FF7FA81C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118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323D79-BD28-4E87-84F0-1ED73B42DA07}"/>
              </a:ext>
            </a:extLst>
          </p:cNvPr>
          <p:cNvSpPr txBox="1"/>
          <p:nvPr/>
        </p:nvSpPr>
        <p:spPr>
          <a:xfrm>
            <a:off x="5634976" y="37118"/>
            <a:ext cx="922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29A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57341-084D-42F4-B6D2-223B22081F31}"/>
              </a:ext>
            </a:extLst>
          </p:cNvPr>
          <p:cNvSpPr txBox="1"/>
          <p:nvPr/>
        </p:nvSpPr>
        <p:spPr>
          <a:xfrm>
            <a:off x="255048" y="394231"/>
            <a:ext cx="801052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B0B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Insights from EDA:</a:t>
            </a:r>
            <a:endParaRPr lang="en-US" dirty="0">
              <a:solidFill>
                <a:srgbClr val="B0B0B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0B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imbalance is observed among positive, negative, and neutral reviews.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5AC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r>
              <a:rPr lang="en-US" dirty="0">
                <a:solidFill>
                  <a:srgbClr val="B0B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class dominates the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0B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distribution: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5AC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r>
              <a:rPr lang="en-US" dirty="0">
                <a:solidFill>
                  <a:srgbClr val="B0B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58.5%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43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  <a:r>
              <a:rPr lang="en-US" dirty="0">
                <a:solidFill>
                  <a:srgbClr val="B0B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32.5%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0B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Neutral: 9%</a:t>
            </a:r>
          </a:p>
          <a:p>
            <a:endParaRPr lang="en-US" dirty="0">
              <a:solidFill>
                <a:srgbClr val="B0B0B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DB446-F290-4452-8E90-1D4857521CE6}"/>
              </a:ext>
            </a:extLst>
          </p:cNvPr>
          <p:cNvSpPr txBox="1"/>
          <p:nvPr/>
        </p:nvSpPr>
        <p:spPr>
          <a:xfrm>
            <a:off x="477694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71C2A-36FA-46D6-98E3-857969D6B7F5}"/>
              </a:ext>
            </a:extLst>
          </p:cNvPr>
          <p:cNvSpPr txBox="1"/>
          <p:nvPr/>
        </p:nvSpPr>
        <p:spPr>
          <a:xfrm>
            <a:off x="477694" y="37983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ACABD-3F1E-4EBD-944A-436E9FBCDFD8}"/>
              </a:ext>
            </a:extLst>
          </p:cNvPr>
          <p:cNvSpPr txBox="1"/>
          <p:nvPr/>
        </p:nvSpPr>
        <p:spPr>
          <a:xfrm>
            <a:off x="255048" y="2096281"/>
            <a:ext cx="4390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B0B0B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0B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English texts dominates on Arabic texts.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896F6F-C4D0-4D1B-9605-36BC4357C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161" y="2096281"/>
            <a:ext cx="7559362" cy="476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83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66B90-A0D9-4DA3-A86F-2FF7FA81C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CFB60C-142C-44D0-9B9D-9BB497495F9A}"/>
              </a:ext>
            </a:extLst>
          </p:cNvPr>
          <p:cNvSpPr txBox="1"/>
          <p:nvPr/>
        </p:nvSpPr>
        <p:spPr>
          <a:xfrm>
            <a:off x="4972936" y="142043"/>
            <a:ext cx="2246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29A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069F97-A932-4468-9444-A2CD4A0D8EB1}"/>
              </a:ext>
            </a:extLst>
          </p:cNvPr>
          <p:cNvSpPr/>
          <p:nvPr/>
        </p:nvSpPr>
        <p:spPr>
          <a:xfrm>
            <a:off x="3878062" y="1029811"/>
            <a:ext cx="45719" cy="2399190"/>
          </a:xfrm>
          <a:prstGeom prst="rect">
            <a:avLst/>
          </a:prstGeom>
          <a:solidFill>
            <a:srgbClr val="F4B34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180070-A882-4360-8AED-76F6B85D535F}"/>
              </a:ext>
            </a:extLst>
          </p:cNvPr>
          <p:cNvSpPr/>
          <p:nvPr/>
        </p:nvSpPr>
        <p:spPr>
          <a:xfrm flipH="1">
            <a:off x="8188320" y="1029811"/>
            <a:ext cx="45719" cy="2399190"/>
          </a:xfrm>
          <a:prstGeom prst="rect">
            <a:avLst/>
          </a:prstGeom>
          <a:solidFill>
            <a:srgbClr val="F4B34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0FF9C-B4E7-4999-8A18-BE1E5AC57B18}"/>
              </a:ext>
            </a:extLst>
          </p:cNvPr>
          <p:cNvSpPr txBox="1"/>
          <p:nvPr/>
        </p:nvSpPr>
        <p:spPr>
          <a:xfrm>
            <a:off x="157377" y="1029810"/>
            <a:ext cx="1149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29AAE"/>
                </a:solidFill>
              </a:rPr>
              <a:t>Cleaning: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F202A-1696-48B7-977A-D8104170673C}"/>
              </a:ext>
            </a:extLst>
          </p:cNvPr>
          <p:cNvSpPr txBox="1"/>
          <p:nvPr/>
        </p:nvSpPr>
        <p:spPr>
          <a:xfrm>
            <a:off x="4118298" y="1029810"/>
            <a:ext cx="1208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29AAE"/>
                </a:solidFill>
              </a:rPr>
              <a:t>Sampling: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E3D7B-B889-4301-BB97-956DCEBB5F8D}"/>
              </a:ext>
            </a:extLst>
          </p:cNvPr>
          <p:cNvSpPr txBox="1"/>
          <p:nvPr/>
        </p:nvSpPr>
        <p:spPr>
          <a:xfrm>
            <a:off x="8450784" y="1029810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29AAE"/>
                </a:solidFill>
              </a:rPr>
              <a:t>Models: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CEB6A-AF7E-49C9-8DC3-698875B5ED7D}"/>
              </a:ext>
            </a:extLst>
          </p:cNvPr>
          <p:cNvSpPr txBox="1"/>
          <p:nvPr/>
        </p:nvSpPr>
        <p:spPr>
          <a:xfrm>
            <a:off x="275208" y="1509204"/>
            <a:ext cx="34343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</a:rPr>
              <a:t>Lowercasing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</a:rPr>
              <a:t>Punctuation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</a:rPr>
              <a:t>Extra spaces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</a:rPr>
              <a:t>Stop words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</a:rPr>
              <a:t>Stemming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</a:rPr>
              <a:t>Lemmatization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9E72D-9FB5-41E8-AFEA-0BA115928DBB}"/>
              </a:ext>
            </a:extLst>
          </p:cNvPr>
          <p:cNvSpPr txBox="1"/>
          <p:nvPr/>
        </p:nvSpPr>
        <p:spPr>
          <a:xfrm>
            <a:off x="4164017" y="1553030"/>
            <a:ext cx="3807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DE1A58"/>
                </a:solidFill>
                <a:effectLst/>
                <a:latin typeface="gg sans"/>
              </a:rPr>
              <a:t>25k samples of each label for each language was used, 50k positive, 50k neutral, 50k negative, for a total of 150k samples.</a:t>
            </a:r>
            <a:endParaRPr lang="en-US" dirty="0">
              <a:solidFill>
                <a:srgbClr val="DE1A5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56980-2955-4D05-87B1-970161B06D5C}"/>
              </a:ext>
            </a:extLst>
          </p:cNvPr>
          <p:cNvSpPr txBox="1"/>
          <p:nvPr/>
        </p:nvSpPr>
        <p:spPr>
          <a:xfrm>
            <a:off x="8450782" y="1553030"/>
            <a:ext cx="3249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DE1A58"/>
                </a:solidFill>
                <a:effectLst/>
                <a:latin typeface="inherit"/>
              </a:rPr>
              <a:t>GigaBERT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DE1A58"/>
                </a:solidFill>
                <a:effectLst/>
                <a:latin typeface="inherit"/>
              </a:rPr>
              <a:t>Multilingual BERT (mBERT)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DE1A58"/>
                </a:solidFill>
                <a:effectLst/>
                <a:latin typeface="inherit"/>
              </a:rPr>
              <a:t>XLM-RoBERTa (XLM-R)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DE1A58"/>
                </a:solidFill>
                <a:effectLst/>
                <a:latin typeface="inherit"/>
              </a:rPr>
              <a:t>MARBERT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B2BFB7-9146-4DCD-8113-A470AC761718}"/>
              </a:ext>
            </a:extLst>
          </p:cNvPr>
          <p:cNvSpPr/>
          <p:nvPr/>
        </p:nvSpPr>
        <p:spPr>
          <a:xfrm>
            <a:off x="160282" y="3745547"/>
            <a:ext cx="9001473" cy="1453717"/>
          </a:xfrm>
          <a:prstGeom prst="roundRect">
            <a:avLst/>
          </a:prstGeom>
          <a:solidFill>
            <a:srgbClr val="10162D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DE1A58"/>
                </a:solidFill>
              </a:rPr>
              <a:t> Data from various sources(four) were collected and integrated into a single dataset.</a:t>
            </a:r>
          </a:p>
          <a:p>
            <a:r>
              <a:rPr lang="en-US" sz="1800" dirty="0">
                <a:solidFill>
                  <a:srgbClr val="DE1A58"/>
                </a:solidFill>
              </a:rPr>
              <a:t>Then a sampling process was applied across the three classes </a:t>
            </a:r>
            <a:r>
              <a:rPr lang="en-US" dirty="0">
                <a:solidFill>
                  <a:srgbClr val="DE1A58"/>
                </a:solidFill>
              </a:rPr>
              <a:t>in</a:t>
            </a:r>
            <a:r>
              <a:rPr lang="en-US" sz="1800" dirty="0">
                <a:solidFill>
                  <a:srgbClr val="DE1A58"/>
                </a:solidFill>
              </a:rPr>
              <a:t> both languages(Arabic and English) with general dialects. Finally data cleaning was performed on the resulting dataset.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12E0FD-E0DA-4FC6-8D7A-3DC6CD144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052" y="936134"/>
            <a:ext cx="493786" cy="4937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C35BDC4-B3E4-46DE-865C-21572FC371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454" y="936134"/>
            <a:ext cx="493787" cy="4937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CD99CFC-9762-4631-95CE-CA3FEB9025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829" y="936134"/>
            <a:ext cx="495624" cy="49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81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66B90-A0D9-4DA3-A86F-2FF7FA81C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C54614-82E9-4440-8E2B-0108492C0682}"/>
              </a:ext>
            </a:extLst>
          </p:cNvPr>
          <p:cNvSpPr txBox="1"/>
          <p:nvPr/>
        </p:nvSpPr>
        <p:spPr>
          <a:xfrm>
            <a:off x="4371008" y="0"/>
            <a:ext cx="3449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0" dirty="0">
                <a:solidFill>
                  <a:srgbClr val="F29AAE"/>
                </a:solidFill>
                <a:effectLst/>
                <a:latin typeface="-apple-system"/>
              </a:rPr>
              <a:t>Experiments &amp; Results</a:t>
            </a:r>
            <a:endParaRPr lang="en-US" sz="2800" dirty="0">
              <a:solidFill>
                <a:srgbClr val="F29AA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4C668B-B685-4F6C-A8A9-C2F35402B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15" y="763478"/>
            <a:ext cx="5635471" cy="46341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6B4425-04CB-4402-8935-250CBFA21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623" y="763479"/>
            <a:ext cx="6024054" cy="463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84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66B90-A0D9-4DA3-A86F-2FF7FA81C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DE5743-B7EF-48D2-9E14-051318522B90}"/>
              </a:ext>
            </a:extLst>
          </p:cNvPr>
          <p:cNvSpPr txBox="1"/>
          <p:nvPr/>
        </p:nvSpPr>
        <p:spPr>
          <a:xfrm>
            <a:off x="5023430" y="124287"/>
            <a:ext cx="2145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0" dirty="0">
                <a:solidFill>
                  <a:srgbClr val="F29AA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en-US" sz="2800" dirty="0">
              <a:solidFill>
                <a:srgbClr val="F29AA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5F1A1-1325-4F30-893D-79C50F29594F}"/>
              </a:ext>
            </a:extLst>
          </p:cNvPr>
          <p:cNvSpPr txBox="1"/>
          <p:nvPr/>
        </p:nvSpPr>
        <p:spPr>
          <a:xfrm>
            <a:off x="982462" y="967666"/>
            <a:ext cx="1022707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29A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Findings:</a:t>
            </a:r>
            <a:endParaRPr lang="en-US" dirty="0">
              <a:solidFill>
                <a:srgbClr val="F29AA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Among all the evaluated models, XLM-Roberta achieved the best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outperformed the other models by obtaining the </a:t>
            </a:r>
            <a:r>
              <a:rPr lang="en-US" b="1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 accuracy</a:t>
            </a:r>
            <a:r>
              <a:rPr lang="en-US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the sentiment analysis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indicates that XLM-Roberta is more effective at capturing sentiment meaning in </a:t>
            </a:r>
            <a:r>
              <a:rPr lang="en-US" b="1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multilingual data</a:t>
            </a:r>
            <a:r>
              <a:rPr lang="en-US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especially when working with both Arabic and English.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balanced sampling strategy contributed to fair and reliable model comparison.</a:t>
            </a:r>
          </a:p>
          <a:p>
            <a:endParaRPr lang="en-US" b="1" dirty="0">
              <a:solidFill>
                <a:srgbClr val="DE1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F29A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Conclusion:</a:t>
            </a:r>
            <a:br>
              <a:rPr lang="en-US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XLM-Roberta proved to be the most suitable model for multilingual sentiment analysis, delivering  superior accuracy and more robust performance compared to the other tested models.</a:t>
            </a:r>
          </a:p>
          <a:p>
            <a:endParaRPr lang="en-US" dirty="0">
              <a:solidFill>
                <a:srgbClr val="DE1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F29A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Reflection: Challenges, Scalability, and 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DE1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Challenges: Linguistic diversity and Arabic–English code-switching increased preprocessing complexity, while dataset heterogeneity required careful label standardization.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DE1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Scalability: The modular pipeline and </a:t>
            </a:r>
            <a:r>
              <a:rPr lang="en-US" sz="1500" dirty="0" err="1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sz="1500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-based fine-tuning support efficient scaling to larger datasets and multilingual settings.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DE1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DE1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Work: Expanding dialect coverage, incorporating aspect-based sentiment analysis, and evaluating real-time deployment.</a:t>
            </a:r>
          </a:p>
        </p:txBody>
      </p:sp>
    </p:spTree>
    <p:extLst>
      <p:ext uri="{BB962C8B-B14F-4D97-AF65-F5344CB8AC3E}">
        <p14:creationId xmlns:p14="http://schemas.microsoft.com/office/powerpoint/2010/main" val="242479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406</Words>
  <Application>Microsoft Office PowerPoint</Application>
  <PresentationFormat>Widescreen</PresentationFormat>
  <Paragraphs>71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gg sans</vt:lpstr>
      <vt:lpstr>inherit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Retaj</dc:creator>
  <cp:lastModifiedBy>Gaith Abedalaziz</cp:lastModifiedBy>
  <cp:revision>26</cp:revision>
  <dcterms:created xsi:type="dcterms:W3CDTF">2025-12-27T16:14:38Z</dcterms:created>
  <dcterms:modified xsi:type="dcterms:W3CDTF">2025-12-28T01:13:44Z</dcterms:modified>
</cp:coreProperties>
</file>